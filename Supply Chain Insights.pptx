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429B-A899-589E-F057-139AC593E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6F448-7DDE-E210-BC46-751DE1392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CF960-DA2D-85C3-5E31-E945FFE3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F219A-8545-E56E-9F45-C70CBE8C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6D2EA-B84E-F03B-C8A5-3904CD09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423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6785-D1BB-0AA7-A686-A6AB9314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B539-5473-DE95-2EA2-39246EA2F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33372-0BD6-DEAE-7F2C-C78E51AA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13AD-28CA-4EA0-B5A2-464E08EC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3EF08-C9E0-B073-0A21-86B98598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9950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D666-31FD-481F-E438-B0F3BF583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3D451-12AA-419D-4023-AE8FF64C7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280EB-3929-24CF-1F02-AE6C4965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B1C5-E2B1-38A7-7A2C-C22A3BC6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8EF15-5865-F077-906E-36AD08E2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587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3B79-A375-F84E-DF99-8B5F909E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82ED5-063E-80A9-F20B-7FDD29E6F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E2E24-10BC-E3D8-17A8-532C2A91C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E252-F55B-8C91-E03C-CA678F29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4CC1A-4532-30AA-A06B-CB0A7413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6B360-12A2-08BC-171C-F7B28FC7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677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804F-65C5-5A0E-8684-0E1DDBB5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A66E9-4F59-037B-0E41-9D81CA8EC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B1D09-3C38-7FE1-413A-130C1812C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753BE-C4A8-B1A5-64D1-AE0EAE2F5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00CBAD-16B5-7F09-3212-622E6F5C6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B5240-2ADE-4D7E-CD7F-54410DC1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FF318-AE0D-A6C7-2708-5459B836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84629C-7F3F-60C0-143A-9CAAA44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77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9CD7-C711-BD19-3AB6-AE95F595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0CE6E-7DD3-46EB-9C13-6DF947D2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96748-D70F-7455-489F-9891F39E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B6AB0-B38B-A4A6-65E0-DD66981E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330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3C67C-7320-47E1-287F-255800D5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AF08E2-B2B5-F6AD-42FE-A4B6C7F5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5F5-85C3-7E89-6187-8E50ACCB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02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7C99-EF3F-00FA-375C-83B6DCAC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9B499-B099-33FF-9C3B-C0A0FEA4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6A99A-DAEC-8E2D-4B2C-D4CD7565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B291E-9376-6446-7199-89402BE6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01641-9080-31F8-319C-A57609CD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30555-903D-475B-2A2D-086A71CF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946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F92A-8408-D60E-189F-37D72880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E5CD2-1712-5DCB-3681-2C159AB6A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51FAA-EFE1-689A-9CD9-73C630C5F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95CED-70FA-9C92-94AA-2BACD407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C461-4C27-B240-EF97-E1F6C961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BEA9-DE19-9577-556E-0B9E5ED5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272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DA5C-5B66-6142-6631-145BE8B6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DF7DE-5D6B-9FB6-99CA-D00AD2447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EDCF5-07DE-1508-0A9F-786E8316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D3C99-514E-8F77-256A-F94EBD9D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5920E-8C2D-57D2-FA99-BF4DAEAE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280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57774-9263-EAF0-8AFC-5793755F0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07122-66D3-BDD1-E746-404E866BD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54AC-FD15-EE71-CC04-16A57852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BC97C-7003-998F-4D85-65F84C13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8368B-94A2-F6AF-281A-44A48BE3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273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28521-7123-99F5-E34F-E2484046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94976-F284-E066-394F-3D5F33232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D99BC-18D9-C0BA-BC0B-F6F3EBF26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84EE8-ECE8-4AA3-BD05-CB600C9C66FF}" type="datetimeFigureOut">
              <a:rPr lang="en-PK" smtClean="0"/>
              <a:t>26/03/2026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6B722-E4F9-BF3E-FDD0-01D1084B6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E6846-0AD0-8180-09FD-378937D6D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4CE9E-9326-41A0-AEB3-2BC51C05AF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3533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0DEF7A-B17E-3CF0-B6B3-49221ECF8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834" y="482583"/>
            <a:ext cx="8062332" cy="35723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AD970-D829-EEBD-A2C3-D665FCA8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076" y="3192808"/>
            <a:ext cx="3801007" cy="17242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A7E021-0AEF-AD17-D694-F00A05BEDB6A}"/>
              </a:ext>
            </a:extLst>
          </p:cNvPr>
          <p:cNvSpPr txBox="1"/>
          <p:nvPr/>
        </p:nvSpPr>
        <p:spPr>
          <a:xfrm>
            <a:off x="524108" y="5497551"/>
            <a:ext cx="526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Supply Chain Insights and Key Findings</a:t>
            </a:r>
            <a:endParaRPr lang="en-PK" b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F8A75-8258-50E1-9E40-91D3A9054782}"/>
              </a:ext>
            </a:extLst>
          </p:cNvPr>
          <p:cNvSpPr txBox="1"/>
          <p:nvPr/>
        </p:nvSpPr>
        <p:spPr>
          <a:xfrm>
            <a:off x="9329853" y="5497551"/>
            <a:ext cx="301640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Created by</a:t>
            </a:r>
          </a:p>
          <a:p>
            <a:r>
              <a:rPr lang="en-US" sz="1600" b="1" dirty="0"/>
              <a:t>Muhammad Faizan</a:t>
            </a:r>
            <a:endParaRPr lang="en-PK" sz="1600" b="1" dirty="0"/>
          </a:p>
        </p:txBody>
      </p:sp>
    </p:spTree>
    <p:extLst>
      <p:ext uri="{BB962C8B-B14F-4D97-AF65-F5344CB8AC3E}">
        <p14:creationId xmlns:p14="http://schemas.microsoft.com/office/powerpoint/2010/main" val="2685251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B6DDB-B422-3296-4EDD-4A8E5851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480689" cy="2640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4699473"/>
            <a:ext cx="744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Ahmedabad has been top selling city</a:t>
            </a:r>
            <a:br>
              <a:rPr lang="en-US" dirty="0"/>
            </a:br>
            <a:r>
              <a:rPr lang="en-US" dirty="0"/>
              <a:t>Dairy Products orders are almost double than the other categories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474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218991"/>
            <a:ext cx="7449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6 Customers Acclaimed Stores , Lotus Mart, Vijay Stores, Rel Fresh, Cool Blue &amp; Propel Mart is constituting 53% of Total orders &amp; seems to be key customers</a:t>
            </a:r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EA859-772F-8BFE-43A8-DD48516BE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7185"/>
            <a:ext cx="6335510" cy="28022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188A74-0F67-4BD9-40A0-1B80D290B7F3}"/>
              </a:ext>
            </a:extLst>
          </p:cNvPr>
          <p:cNvSpPr/>
          <p:nvPr/>
        </p:nvSpPr>
        <p:spPr>
          <a:xfrm>
            <a:off x="838200" y="1737185"/>
            <a:ext cx="2585224" cy="289057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52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3443161"/>
            <a:ext cx="503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OT%, IF% and OTIF% are noticeably lower than the Targeted levels. </a:t>
            </a:r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2327-8F5A-5D8D-5913-2A9CEE95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25" y="1475980"/>
            <a:ext cx="5563376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146395"/>
            <a:ext cx="503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Daily Trend for OT% Graphs for Order even Daily level of OT% too are significantly lower than Targeted OT%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33C21F-4949-FB80-D388-88A7FEB6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5395"/>
            <a:ext cx="7173326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2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146395"/>
            <a:ext cx="503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 Daily trends of IF% and OTIF % chart shows that not a single day they are able to touch the Target lines for respective matrices . Especially OTIF% performance is quite disappointing.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33287-79E9-FFC3-FF6D-BD0B8E9E1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6" y="1795458"/>
            <a:ext cx="5173664" cy="2285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DC145-F157-2749-756C-492E826CC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756" y="1789759"/>
            <a:ext cx="5173664" cy="229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6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635186" y="5235607"/>
            <a:ext cx="503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service levels are filtered for SURAT city Lotus Mart and Acclaimed Stores shows alarming IF% &amp; OTIF % levels.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E21E63-5543-9BA3-9BD9-5DEF525F1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13" y="3173803"/>
            <a:ext cx="4377722" cy="17934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AB630E-CC51-A93C-4F9A-FC6638FE0D27}"/>
              </a:ext>
            </a:extLst>
          </p:cNvPr>
          <p:cNvSpPr/>
          <p:nvPr/>
        </p:nvSpPr>
        <p:spPr>
          <a:xfrm>
            <a:off x="1516566" y="3173802"/>
            <a:ext cx="1014761" cy="1662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E57FFA-D884-AD68-5A50-46E04515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62" y="2952268"/>
            <a:ext cx="6315956" cy="21053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36822A-FFA9-9F4C-7C27-F0CE54F17641}"/>
              </a:ext>
            </a:extLst>
          </p:cNvPr>
          <p:cNvSpPr/>
          <p:nvPr/>
        </p:nvSpPr>
        <p:spPr>
          <a:xfrm>
            <a:off x="6096000" y="3066587"/>
            <a:ext cx="550127" cy="199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52004F-AE0C-F0D0-A476-EBFF8AC5B167}"/>
              </a:ext>
            </a:extLst>
          </p:cNvPr>
          <p:cNvSpPr/>
          <p:nvPr/>
        </p:nvSpPr>
        <p:spPr>
          <a:xfrm>
            <a:off x="9177454" y="3173802"/>
            <a:ext cx="607308" cy="1883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03A2C-E550-576C-EFD3-645B5A29352B}"/>
              </a:ext>
            </a:extLst>
          </p:cNvPr>
          <p:cNvSpPr txBox="1"/>
          <p:nvPr/>
        </p:nvSpPr>
        <p:spPr>
          <a:xfrm>
            <a:off x="635186" y="2026045"/>
            <a:ext cx="1405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SURAT City 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342691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635186" y="5235607"/>
            <a:ext cx="503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service levels are filtered for Ahmedabad city Lotus Mart, Acclaimed Stores and Coolblue shows alarming IF% &amp; OTIF % levels.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03A2C-E550-576C-EFD3-645B5A29352B}"/>
              </a:ext>
            </a:extLst>
          </p:cNvPr>
          <p:cNvSpPr txBox="1"/>
          <p:nvPr/>
        </p:nvSpPr>
        <p:spPr>
          <a:xfrm>
            <a:off x="635186" y="2026045"/>
            <a:ext cx="273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AHMEDABAD City</a:t>
            </a:r>
            <a:endParaRPr lang="en-PK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31119-BDAD-B2E5-12DE-39A2CBB6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86" y="2730733"/>
            <a:ext cx="4892901" cy="19416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7CE2FA-3A29-2D0C-008F-AFC49C5B719D}"/>
              </a:ext>
            </a:extLst>
          </p:cNvPr>
          <p:cNvSpPr/>
          <p:nvPr/>
        </p:nvSpPr>
        <p:spPr>
          <a:xfrm>
            <a:off x="1349298" y="2730733"/>
            <a:ext cx="1717287" cy="1517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29A1F6-1635-7FCF-0D97-EAF2A8306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62" y="2376340"/>
            <a:ext cx="6315956" cy="210531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EFA4AA2-E3B4-6BCE-CCAA-8FA8C23184B0}"/>
              </a:ext>
            </a:extLst>
          </p:cNvPr>
          <p:cNvSpPr/>
          <p:nvPr/>
        </p:nvSpPr>
        <p:spPr>
          <a:xfrm>
            <a:off x="6096000" y="2598234"/>
            <a:ext cx="505522" cy="1883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D5277-248B-876A-80B8-BCBE878CD742}"/>
              </a:ext>
            </a:extLst>
          </p:cNvPr>
          <p:cNvSpPr/>
          <p:nvPr/>
        </p:nvSpPr>
        <p:spPr>
          <a:xfrm>
            <a:off x="7515922" y="2598234"/>
            <a:ext cx="505522" cy="1784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05971E-C12D-F20C-6ECC-9103266AA748}"/>
              </a:ext>
            </a:extLst>
          </p:cNvPr>
          <p:cNvSpPr/>
          <p:nvPr/>
        </p:nvSpPr>
        <p:spPr>
          <a:xfrm>
            <a:off x="9422780" y="2598234"/>
            <a:ext cx="505522" cy="1784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301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635186" y="5235607"/>
            <a:ext cx="503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service levels are filtered for Vadodara city Lotus Mart, Acclaimed Stores, Coolblue, Vijay Stores and Elite Mart shows alarming IF% &amp; OTIF % levels.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D03A2C-E550-576C-EFD3-645B5A29352B}"/>
              </a:ext>
            </a:extLst>
          </p:cNvPr>
          <p:cNvSpPr txBox="1"/>
          <p:nvPr/>
        </p:nvSpPr>
        <p:spPr>
          <a:xfrm>
            <a:off x="635186" y="2026045"/>
            <a:ext cx="273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VADODARA City</a:t>
            </a:r>
            <a:endParaRPr lang="en-PK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9A262-E0BF-B276-493A-2CDE09F85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86" y="2577068"/>
            <a:ext cx="4984748" cy="20506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E6A32F-F798-7DE6-7058-DB48DBC27B3D}"/>
              </a:ext>
            </a:extLst>
          </p:cNvPr>
          <p:cNvSpPr/>
          <p:nvPr/>
        </p:nvSpPr>
        <p:spPr>
          <a:xfrm>
            <a:off x="1237785" y="2676293"/>
            <a:ext cx="1271239" cy="1405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E71FDF-F3B7-A7DD-2E6F-95CB94FD8F49}"/>
              </a:ext>
            </a:extLst>
          </p:cNvPr>
          <p:cNvSpPr/>
          <p:nvPr/>
        </p:nvSpPr>
        <p:spPr>
          <a:xfrm>
            <a:off x="4404732" y="3523785"/>
            <a:ext cx="1037063" cy="657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F34AC-B913-2240-99D1-BA3E91415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62" y="2298539"/>
            <a:ext cx="6354062" cy="20481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380C17-9260-4195-A055-CD662AA96FAF}"/>
              </a:ext>
            </a:extLst>
          </p:cNvPr>
          <p:cNvSpPr/>
          <p:nvPr/>
        </p:nvSpPr>
        <p:spPr>
          <a:xfrm>
            <a:off x="6096000" y="2395377"/>
            <a:ext cx="561278" cy="2048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C1BB72-D363-C1BC-94E4-5459C8AF6A26}"/>
              </a:ext>
            </a:extLst>
          </p:cNvPr>
          <p:cNvSpPr/>
          <p:nvPr/>
        </p:nvSpPr>
        <p:spPr>
          <a:xfrm>
            <a:off x="6657278" y="2486722"/>
            <a:ext cx="426038" cy="1859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230564-2021-5543-9112-C961C612D383}"/>
              </a:ext>
            </a:extLst>
          </p:cNvPr>
          <p:cNvSpPr/>
          <p:nvPr/>
        </p:nvSpPr>
        <p:spPr>
          <a:xfrm>
            <a:off x="8959572" y="2486722"/>
            <a:ext cx="552418" cy="1859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7801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635185" y="4395800"/>
            <a:ext cx="6746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Service Level Analysis of Orders shows For Acclaimed Stores , Cool Blue &amp; Lotus Mart have some noticeably lower OT% and OTIF % even their IF% too are also not so much convincing.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158D9-705F-388B-68D3-1491D09EB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86" y="2166048"/>
            <a:ext cx="11025313" cy="1325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37005D-5F20-F5F4-EA79-84E2A283DAB9}"/>
              </a:ext>
            </a:extLst>
          </p:cNvPr>
          <p:cNvSpPr/>
          <p:nvPr/>
        </p:nvSpPr>
        <p:spPr>
          <a:xfrm>
            <a:off x="1115122" y="2166048"/>
            <a:ext cx="947854" cy="1325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028E2D-3582-8C4B-241C-E3F0098ACF53}"/>
              </a:ext>
            </a:extLst>
          </p:cNvPr>
          <p:cNvSpPr/>
          <p:nvPr/>
        </p:nvSpPr>
        <p:spPr>
          <a:xfrm>
            <a:off x="3557239" y="2166048"/>
            <a:ext cx="568712" cy="1325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DF9E0-1AF1-A28C-EE84-57AAB981D2EE}"/>
              </a:ext>
            </a:extLst>
          </p:cNvPr>
          <p:cNvSpPr/>
          <p:nvPr/>
        </p:nvSpPr>
        <p:spPr>
          <a:xfrm>
            <a:off x="7605132" y="2166048"/>
            <a:ext cx="657922" cy="126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030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846544"/>
            <a:ext cx="674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analysis of Order Line overview shows that there are certain customers who has LIFR % noticeably lower than Average LIFR%.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7AB13-0920-FF76-EAEA-FF9A98E55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66" y="1518241"/>
            <a:ext cx="10325467" cy="41772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D9E627C-82F3-F3A5-96D2-678289048DD0}"/>
              </a:ext>
            </a:extLst>
          </p:cNvPr>
          <p:cNvSpPr/>
          <p:nvPr/>
        </p:nvSpPr>
        <p:spPr>
          <a:xfrm>
            <a:off x="1382751" y="4215161"/>
            <a:ext cx="524108" cy="5129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7ED171-3707-015E-1060-998CA86ED958}"/>
              </a:ext>
            </a:extLst>
          </p:cNvPr>
          <p:cNvSpPr/>
          <p:nvPr/>
        </p:nvSpPr>
        <p:spPr>
          <a:xfrm>
            <a:off x="3256156" y="4879205"/>
            <a:ext cx="501805" cy="460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DDAE06-7072-9223-E76C-CC1AD1DE8604}"/>
              </a:ext>
            </a:extLst>
          </p:cNvPr>
          <p:cNvSpPr/>
          <p:nvPr/>
        </p:nvSpPr>
        <p:spPr>
          <a:xfrm>
            <a:off x="3875329" y="4728117"/>
            <a:ext cx="524108" cy="5129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DA2EB0-4F43-BE4F-B2D8-7816A571DB72}"/>
              </a:ext>
            </a:extLst>
          </p:cNvPr>
          <p:cNvSpPr/>
          <p:nvPr/>
        </p:nvSpPr>
        <p:spPr>
          <a:xfrm>
            <a:off x="5726431" y="4780519"/>
            <a:ext cx="641476" cy="5129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0592F7-B2FF-9D5E-B519-9F75CFE47DB0}"/>
              </a:ext>
            </a:extLst>
          </p:cNvPr>
          <p:cNvSpPr/>
          <p:nvPr/>
        </p:nvSpPr>
        <p:spPr>
          <a:xfrm>
            <a:off x="8987883" y="4825123"/>
            <a:ext cx="457200" cy="460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079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846544"/>
            <a:ext cx="674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Acclaimed Stores , Cool Blue &amp; Lotus Mart more than 70% of times lines are being delivered 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329A2-A098-C6CB-15E9-0FAD3CC7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813"/>
            <a:ext cx="10615960" cy="39442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9BABEB-F2EE-6CA8-1C94-4ECAAC547061}"/>
              </a:ext>
            </a:extLst>
          </p:cNvPr>
          <p:cNvSpPr/>
          <p:nvPr/>
        </p:nvSpPr>
        <p:spPr>
          <a:xfrm>
            <a:off x="1371600" y="5185317"/>
            <a:ext cx="568712" cy="346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1D2DE-9548-8B36-CB19-40FF79488643}"/>
              </a:ext>
            </a:extLst>
          </p:cNvPr>
          <p:cNvSpPr/>
          <p:nvPr/>
        </p:nvSpPr>
        <p:spPr>
          <a:xfrm>
            <a:off x="3401122" y="5185317"/>
            <a:ext cx="468351" cy="200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8867E1-DA07-EEFF-FA8C-489242401DF9}"/>
              </a:ext>
            </a:extLst>
          </p:cNvPr>
          <p:cNvSpPr/>
          <p:nvPr/>
        </p:nvSpPr>
        <p:spPr>
          <a:xfrm>
            <a:off x="7348654" y="5185317"/>
            <a:ext cx="568712" cy="200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508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297293"/>
            <a:ext cx="6746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Dairy products have the most delays, which is risky because they spoil quickly and can cause losses and customer complaints.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BA81CB-9368-B5E3-6085-B6A63933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14315" cy="31503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7A8542-A985-ACD5-D597-C3CF4D815A7C}"/>
              </a:ext>
            </a:extLst>
          </p:cNvPr>
          <p:cNvSpPr/>
          <p:nvPr/>
        </p:nvSpPr>
        <p:spPr>
          <a:xfrm>
            <a:off x="4460488" y="3100039"/>
            <a:ext cx="624468" cy="1248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977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297293"/>
            <a:ext cx="7882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Delays look the same in all cities, which means the problem is not local but likely coming from a central warehouse or shared logistics provider.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C4784-55A3-C1E8-C20A-B9A911AB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9088"/>
            <a:ext cx="6064405" cy="307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15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5297293"/>
            <a:ext cx="7882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Delays look the same in all cities, which means the problem is not local but likely coming from a central warehouse or shared logistics provider.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C4784-55A3-C1E8-C20A-B9A911AB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9088"/>
            <a:ext cx="6064405" cy="307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86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C6EE-5BA8-BF8C-84B5-F0A7C8CD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Key Findings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51B0-5D7C-28DA-4B54-C05601B06F55}"/>
              </a:ext>
            </a:extLst>
          </p:cNvPr>
          <p:cNvSpPr txBox="1"/>
          <p:nvPr/>
        </p:nvSpPr>
        <p:spPr>
          <a:xfrm>
            <a:off x="838200" y="1862717"/>
            <a:ext cx="7882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dirty="0"/>
              <a:t>Some orders arrive earlier than planned, and since customers may not have space available, it can cause issues and shows inconsistent delivery timing.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E65430-0525-464B-632E-00860446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389" y="3116399"/>
            <a:ext cx="7999222" cy="303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458</Words>
  <Application>Microsoft Office PowerPoint</Application>
  <PresentationFormat>Widescreen</PresentationFormat>
  <Paragraphs>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  <vt:lpstr>Insights and 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Faizan</dc:creator>
  <cp:lastModifiedBy>Muhammad Faizan</cp:lastModifiedBy>
  <cp:revision>19</cp:revision>
  <dcterms:created xsi:type="dcterms:W3CDTF">2026-03-26T15:16:17Z</dcterms:created>
  <dcterms:modified xsi:type="dcterms:W3CDTF">2026-03-27T19:25:01Z</dcterms:modified>
</cp:coreProperties>
</file>